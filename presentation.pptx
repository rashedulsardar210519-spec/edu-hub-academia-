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A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164592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29800" y="1051560"/>
            <a:ext cx="914400" cy="914400"/>
          </a:xfrm>
          <a:prstGeom prst="ellipse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61320" y="1874519"/>
            <a:ext cx="566928" cy="566928"/>
          </a:xfrm>
          <a:prstGeom prst="ellipse">
            <a:avLst/>
          </a:prstGeom>
          <a:solidFill>
            <a:srgbClr val="E0A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26880" y="2331720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81360" y="2834640"/>
            <a:ext cx="256032" cy="256032"/>
          </a:xfrm>
          <a:prstGeom prst="ellipse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875520" y="3429000"/>
            <a:ext cx="640080" cy="640080"/>
          </a:xfrm>
          <a:prstGeom prst="ellipse">
            <a:avLst/>
          </a:prstGeom>
          <a:solidFill>
            <a:srgbClr val="2A4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658368"/>
            <a:ext cx="8046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E0AA48"/>
                </a:solidFill>
                <a:latin typeface="Aptos"/>
              </a:defRPr>
            </a:pPr>
            <a:r>
              <a:t>RESEARCH PROPOSAL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25880"/>
            <a:ext cx="8778240" cy="2148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3100" b="1" i="0">
                <a:solidFill>
                  <a:srgbClr val="FFFFFF"/>
                </a:solidFill>
                <a:latin typeface="Aptos"/>
              </a:defRPr>
            </a:pPr>
            <a:r>
              <a:t>Development of Nano-Reinforced</a:t>
            </a:r>
          </a:p>
          <a:p>
            <a:pPr algn="l">
              <a:spcAft>
                <a:spcPts val="500"/>
              </a:spcAft>
              <a:defRPr sz="3100" b="1" i="0">
                <a:solidFill>
                  <a:srgbClr val="FFFFFF"/>
                </a:solidFill>
                <a:latin typeface="Aptos"/>
              </a:defRPr>
            </a:pPr>
            <a:r>
              <a:t>Bio-Based Adhesives for</a:t>
            </a:r>
          </a:p>
          <a:p>
            <a:pPr algn="l">
              <a:spcAft>
                <a:spcPts val="500"/>
              </a:spcAft>
              <a:defRPr sz="3100" b="1" i="0">
                <a:solidFill>
                  <a:srgbClr val="FFFFFF"/>
                </a:solidFill>
                <a:latin typeface="Aptos"/>
              </a:defRPr>
            </a:pPr>
            <a:r>
              <a:t>Particleboard Manufacture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703320"/>
            <a:ext cx="1143000" cy="64008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4050791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C3D3DD"/>
                </a:solidFill>
                <a:latin typeface="Aptos"/>
              </a:defRPr>
            </a:pPr>
            <a:r>
              <a:t>Presented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352544"/>
            <a:ext cx="4114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Rashedul Sardar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818888"/>
            <a:ext cx="4297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DCE8EF"/>
                </a:solidFill>
                <a:latin typeface="Aptos"/>
              </a:defRPr>
            </a:pPr>
            <a:r>
              <a:t>Student ID: MS-260509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230368"/>
            <a:ext cx="58521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DCE8EF"/>
                </a:solidFill>
                <a:latin typeface="Aptos"/>
              </a:defRPr>
            </a:pPr>
            <a:r>
              <a:t>Forestry and Wood Technology Discipline</a:t>
            </a:r>
          </a:p>
          <a:p>
            <a:pPr algn="l">
              <a:spcAft>
                <a:spcPts val="500"/>
              </a:spcAft>
              <a:defRPr sz="1500" b="0" i="0">
                <a:solidFill>
                  <a:srgbClr val="DCE8EF"/>
                </a:solidFill>
                <a:latin typeface="Aptos"/>
              </a:defRPr>
            </a:pPr>
            <a:r>
              <a:t>Khulna University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3314" y="3793396"/>
            <a:ext cx="1833137" cy="237199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6451" y="3793396"/>
            <a:ext cx="1779999" cy="237199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142A43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960120" cy="45720"/>
          </a:xfrm>
          <a:prstGeom prst="rect">
            <a:avLst/>
          </a:prstGeom>
          <a:solidFill>
            <a:srgbClr val="E0A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 i="0">
                <a:solidFill>
                  <a:srgbClr val="53677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7589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000" b="1" i="0">
                <a:solidFill>
                  <a:srgbClr val="007D87"/>
                </a:solidFill>
                <a:latin typeface="Aptos"/>
              </a:defRPr>
            </a:pPr>
            <a:r>
              <a:t>Why develop improved adhesives for particleboard?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029968"/>
            <a:ext cx="109728" cy="109728"/>
          </a:xfrm>
          <a:prstGeom prst="ellipse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7" y="1920240"/>
            <a:ext cx="7086600" cy="8732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700" b="0" i="0">
                <a:solidFill>
                  <a:srgbClr val="26313A"/>
                </a:solidFill>
                <a:latin typeface="Aptos"/>
              </a:defRPr>
            </a:pPr>
            <a:r>
              <a:rPr lang="en-GB" dirty="0"/>
              <a:t>Nano-based adhesives offer a promising approach to improving the bonding performance of wood-based composites through nanoscale reinforcement.</a:t>
            </a:r>
            <a:endParaRPr dirty="0"/>
          </a:p>
        </p:txBody>
      </p:sp>
      <p:sp>
        <p:nvSpPr>
          <p:cNvPr id="9" name="Oval 8"/>
          <p:cNvSpPr/>
          <p:nvPr/>
        </p:nvSpPr>
        <p:spPr>
          <a:xfrm>
            <a:off x="749808" y="2921508"/>
            <a:ext cx="109728" cy="109728"/>
          </a:xfrm>
          <a:prstGeom prst="ellipse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7" y="2811780"/>
            <a:ext cx="7086600" cy="8732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0" i="0">
                <a:solidFill>
                  <a:srgbClr val="26313A"/>
                </a:solidFill>
                <a:latin typeface="Aptos"/>
              </a:defRPr>
            </a:pPr>
            <a:r>
              <a:t>Conventional UF-based systems are effective, but formaldehyde emissions and moisture sensitivity remain concerns.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813048"/>
            <a:ext cx="109728" cy="109728"/>
          </a:xfrm>
          <a:prstGeom prst="ellipse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7" y="3703320"/>
            <a:ext cx="7086600" cy="8732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0" i="0">
                <a:solidFill>
                  <a:srgbClr val="26313A"/>
                </a:solidFill>
                <a:latin typeface="Aptos"/>
              </a:defRPr>
            </a:pPr>
            <a:r>
              <a:t>Bio-based tannin can support renewable-resource use, while nano-silica may enhance adhesive performance.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704588"/>
            <a:ext cx="109728" cy="109728"/>
          </a:xfrm>
          <a:prstGeom prst="ellipse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8407" y="4594860"/>
            <a:ext cx="7086600" cy="8732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700" b="0" i="0">
                <a:solidFill>
                  <a:srgbClr val="26313A"/>
                </a:solidFill>
                <a:latin typeface="Aptos"/>
              </a:defRPr>
            </a:pPr>
            <a:r>
              <a:rPr lang="en-GB" dirty="0"/>
              <a:t>This study will incorporate </a:t>
            </a:r>
            <a:r>
              <a:rPr lang="en-GB" dirty="0" err="1"/>
              <a:t>nano</a:t>
            </a:r>
            <a:r>
              <a:rPr lang="en-GB" dirty="0"/>
              <a:t>-silica into a tannin–UF adhesive system to evaluate its effects on particleboard properties and identify the optimum concentration.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8458200" y="1572768"/>
            <a:ext cx="2971800" cy="1170432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58200" y="1572768"/>
            <a:ext cx="73152" cy="1170432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59368" y="1709928"/>
            <a:ext cx="2606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A43"/>
                </a:solidFill>
                <a:latin typeface="Aptos"/>
              </a:defRPr>
            </a:pPr>
            <a:r>
              <a:t>BIO-BASED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9368" y="2103120"/>
            <a:ext cx="26060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6313A"/>
                </a:solidFill>
                <a:latin typeface="Aptos"/>
              </a:defRPr>
            </a:pPr>
            <a:r>
              <a:t>Tannin from Acacia catechu bark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2944368"/>
            <a:ext cx="2971800" cy="1170432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458200" y="2944368"/>
            <a:ext cx="73152" cy="1170432"/>
          </a:xfrm>
          <a:prstGeom prst="rect">
            <a:avLst/>
          </a:prstGeom>
          <a:solidFill>
            <a:srgbClr val="E0A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59368" y="3081528"/>
            <a:ext cx="2606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A43"/>
                </a:solidFill>
                <a:latin typeface="Aptos"/>
              </a:defRPr>
            </a:pPr>
            <a:r>
              <a:t>NANO-REINFORCED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474720"/>
            <a:ext cx="26060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6313A"/>
                </a:solidFill>
                <a:latin typeface="Aptos"/>
              </a:defRPr>
            </a:pPr>
            <a:r>
              <a:t>Nano-silica as the main variable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8200" y="4315968"/>
            <a:ext cx="2971800" cy="1170432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458200" y="4315968"/>
            <a:ext cx="73152" cy="1170432"/>
          </a:xfrm>
          <a:prstGeom prst="rect">
            <a:avLst/>
          </a:prstGeom>
          <a:solidFill>
            <a:srgbClr val="14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59368" y="4453128"/>
            <a:ext cx="2606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A43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9368" y="4846320"/>
            <a:ext cx="26060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6313A"/>
                </a:solidFill>
                <a:latin typeface="Aptos"/>
              </a:defRPr>
            </a:pPr>
            <a:r>
              <a:t>Strong, moisture-resistant particleboard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6428232"/>
            <a:ext cx="9875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36777"/>
                </a:solidFill>
                <a:latin typeface="Aptos"/>
              </a:defRPr>
            </a:pPr>
            <a:r>
              <a:t>FORESTRY AND WOOD TECHNOLOGY  |  KHULNA UNIVERSITY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142A43"/>
                </a:solidFill>
                <a:latin typeface="Aptos"/>
              </a:defRPr>
            </a:pPr>
            <a:r>
              <a:t>Research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960120" cy="45720"/>
          </a:xfrm>
          <a:prstGeom prst="rect">
            <a:avLst/>
          </a:prstGeom>
          <a:solidFill>
            <a:srgbClr val="E0A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 i="0">
                <a:solidFill>
                  <a:srgbClr val="53677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074920" cy="1600200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1764792"/>
            <a:ext cx="658368" cy="658368"/>
          </a:xfrm>
          <a:prstGeom prst="ellipse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6583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728216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142A43"/>
                </a:solidFill>
                <a:latin typeface="Aptos"/>
              </a:defRPr>
            </a:pPr>
            <a:r>
              <a:t>Develop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148839"/>
            <a:ext cx="370332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6313A"/>
                </a:solidFill>
                <a:latin typeface="Aptos"/>
              </a:defRPr>
            </a:pPr>
            <a:r>
              <a:t>Develop a nano-reinforced bio-based adhesive for particleboard manufacture.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074920" cy="1600200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92240" y="1764792"/>
            <a:ext cx="658368" cy="658368"/>
          </a:xfrm>
          <a:prstGeom prst="ellipse">
            <a:avLst/>
          </a:prstGeom>
          <a:solidFill>
            <a:srgbClr val="E0A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6583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142A4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728216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142A43"/>
                </a:solidFill>
                <a:latin typeface="Aptos"/>
              </a:defRPr>
            </a:pPr>
            <a:r>
              <a:t>Optimize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148839"/>
            <a:ext cx="370332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6313A"/>
                </a:solidFill>
                <a:latin typeface="Aptos"/>
              </a:defRPr>
            </a:pPr>
            <a:r>
              <a:t>Optimize nano-silica concentration while maintaining the base adhesive components.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5074920" cy="1600200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60120" y="3913632"/>
            <a:ext cx="658368" cy="658368"/>
          </a:xfrm>
          <a:prstGeom prst="ellipse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069080"/>
            <a:ext cx="6583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877056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142A43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297680"/>
            <a:ext cx="370332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6313A"/>
                </a:solidFill>
                <a:latin typeface="Aptos"/>
              </a:defRPr>
            </a:pPr>
            <a:r>
              <a:t>Evaluate physical, mechanical, moisture-related and thermal performance.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657600"/>
            <a:ext cx="5074920" cy="1600200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92240" y="3913632"/>
            <a:ext cx="658368" cy="658368"/>
          </a:xfrm>
          <a:prstGeom prst="ellipse">
            <a:avLst/>
          </a:prstGeom>
          <a:solidFill>
            <a:srgbClr val="E0A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4069080"/>
            <a:ext cx="6583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142A4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877056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142A43"/>
                </a:solidFill>
                <a:latin typeface="Aptos"/>
              </a:defRPr>
            </a:pPr>
            <a:r>
              <a:t>Identify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297680"/>
            <a:ext cx="370332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6313A"/>
                </a:solidFill>
                <a:latin typeface="Aptos"/>
              </a:defRPr>
            </a:pPr>
            <a:r>
              <a:t>Identify the formulation that provides the best overall particleboard performance.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6428232"/>
            <a:ext cx="9875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36777"/>
                </a:solidFill>
                <a:latin typeface="Aptos"/>
              </a:defRPr>
            </a:pPr>
            <a:r>
              <a:t>FORESTRY AND WOOD TECHNOLOGY  |  KHULNA UNIVERSITY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142A43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960120" cy="45720"/>
          </a:xfrm>
          <a:prstGeom prst="rect">
            <a:avLst/>
          </a:prstGeom>
          <a:solidFill>
            <a:srgbClr val="E0A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 i="0">
                <a:solidFill>
                  <a:srgbClr val="53677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1426464"/>
            <a:ext cx="475488" cy="475488"/>
          </a:xfrm>
          <a:prstGeom prst="ellipse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527048"/>
            <a:ext cx="47548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1920240"/>
            <a:ext cx="36576" cy="338328"/>
          </a:xfrm>
          <a:prstGeom prst="rect">
            <a:avLst/>
          </a:prstGeom>
          <a:solidFill>
            <a:srgbClr val="C5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96596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42A43"/>
                </a:solidFill>
                <a:latin typeface="Aptos"/>
              </a:defRPr>
            </a:pPr>
            <a:r>
              <a:t>Materials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344168"/>
            <a:ext cx="78181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6313A"/>
                </a:solidFill>
                <a:latin typeface="Aptos"/>
              </a:defRPr>
            </a:pPr>
            <a:r>
              <a:t>Tannin, UF resin, nano-silica and hexamine; mango wood chips (1–3 mm).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2340864"/>
            <a:ext cx="475488" cy="475488"/>
          </a:xfrm>
          <a:prstGeom prst="ellipse">
            <a:avLst/>
          </a:prstGeom>
          <a:solidFill>
            <a:srgbClr val="E0A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2441448"/>
            <a:ext cx="47548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300" b="1" i="0">
                <a:solidFill>
                  <a:srgbClr val="142A4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2834640"/>
            <a:ext cx="36576" cy="338328"/>
          </a:xfrm>
          <a:prstGeom prst="rect">
            <a:avLst/>
          </a:prstGeom>
          <a:solidFill>
            <a:srgbClr val="C5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17320" y="2267712"/>
            <a:ext cx="196596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42A43"/>
                </a:solidFill>
                <a:latin typeface="Aptos"/>
              </a:defRPr>
            </a:pPr>
            <a:r>
              <a:t>Formulation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258568"/>
            <a:ext cx="78181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6313A"/>
                </a:solidFill>
                <a:latin typeface="Aptos"/>
              </a:defRPr>
            </a:pPr>
            <a:r>
              <a:t>Keep tannin and UF fixed; vary nano-silica from 0 to 2.5%.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" y="3255264"/>
            <a:ext cx="475488" cy="475488"/>
          </a:xfrm>
          <a:prstGeom prst="ellipse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3355848"/>
            <a:ext cx="47548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49039"/>
            <a:ext cx="36576" cy="338328"/>
          </a:xfrm>
          <a:prstGeom prst="rect">
            <a:avLst/>
          </a:prstGeom>
          <a:solidFill>
            <a:srgbClr val="C5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17320" y="3182112"/>
            <a:ext cx="196596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42A43"/>
                </a:solidFill>
                <a:latin typeface="Aptos"/>
              </a:defRPr>
            </a:pPr>
            <a:r>
              <a:t>Dispersion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172968"/>
            <a:ext cx="78181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6313A"/>
                </a:solidFill>
                <a:latin typeface="Aptos"/>
              </a:defRPr>
            </a:pPr>
            <a:r>
              <a:t>Stir at 600 rpm for 15 min, then ultrasonicate for 10 min.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" y="4169664"/>
            <a:ext cx="475488" cy="475488"/>
          </a:xfrm>
          <a:prstGeom prst="ellipse">
            <a:avLst/>
          </a:prstGeom>
          <a:solidFill>
            <a:srgbClr val="E0A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4270248"/>
            <a:ext cx="47548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300" b="1" i="0">
                <a:solidFill>
                  <a:srgbClr val="142A4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" y="4663440"/>
            <a:ext cx="36576" cy="338328"/>
          </a:xfrm>
          <a:prstGeom prst="rect">
            <a:avLst/>
          </a:prstGeom>
          <a:solidFill>
            <a:srgbClr val="C5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17320" y="4096512"/>
            <a:ext cx="196596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42A43"/>
                </a:solidFill>
                <a:latin typeface="Aptos"/>
              </a:defRPr>
            </a:pPr>
            <a:r>
              <a:t>Board manufacture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4087368"/>
            <a:ext cx="78181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6313A"/>
                </a:solidFill>
                <a:latin typeface="Aptos"/>
              </a:defRPr>
            </a:pPr>
            <a:r>
              <a:t>Dry chips to 2–4% moisture; apply 10% adhesive; hot-press at 170°C, 10 MPa, 10 min.</a:t>
            </a:r>
          </a:p>
        </p:txBody>
      </p:sp>
      <p:sp>
        <p:nvSpPr>
          <p:cNvPr id="26" name="Oval 25"/>
          <p:cNvSpPr/>
          <p:nvPr/>
        </p:nvSpPr>
        <p:spPr>
          <a:xfrm>
            <a:off x="713232" y="5084064"/>
            <a:ext cx="475488" cy="475488"/>
          </a:xfrm>
          <a:prstGeom prst="ellipse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" y="5184648"/>
            <a:ext cx="47548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010912"/>
            <a:ext cx="196596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42A43"/>
                </a:solidFill>
                <a:latin typeface="Aptos"/>
              </a:defRPr>
            </a:pPr>
            <a:r>
              <a:t>Testing &amp;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5001768"/>
            <a:ext cx="78181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6313A"/>
                </a:solidFill>
                <a:latin typeface="Aptos"/>
              </a:defRPr>
            </a:pPr>
            <a:r>
              <a:t>Test density, moisture content, water uptake, thickness swelling, linear expansion, MOR, MOE and IB; analyze with SPSS.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6428232"/>
            <a:ext cx="9875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36777"/>
                </a:solidFill>
                <a:latin typeface="Aptos"/>
              </a:defRPr>
            </a:pPr>
            <a:r>
              <a:t>FORESTRY AND WOOD TECHNOLOGY  |  KHULNA UNIVERSITY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2038" y="1727629"/>
            <a:ext cx="2503682" cy="20041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4" name="TextBox 33"/>
          <p:cNvSpPr txBox="1"/>
          <p:nvPr/>
        </p:nvSpPr>
        <p:spPr>
          <a:xfrm>
            <a:off x="8972038" y="3622583"/>
            <a:ext cx="2792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SEM image of nano silica particles.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142A43"/>
                </a:solidFill>
                <a:latin typeface="Aptos"/>
              </a:defRPr>
            </a:pPr>
            <a:r>
              <a:t>Expected Outcomes, Timeline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960120" cy="45720"/>
          </a:xfrm>
          <a:prstGeom prst="rect">
            <a:avLst/>
          </a:prstGeom>
          <a:solidFill>
            <a:srgbClr val="E0A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 i="0">
                <a:solidFill>
                  <a:srgbClr val="53677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3840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900" b="1" i="0">
                <a:solidFill>
                  <a:srgbClr val="007D87"/>
                </a:solidFill>
                <a:latin typeface="Aptos"/>
              </a:defRPr>
            </a:pPr>
            <a:r>
              <a:t>Expected Outcomes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1828800"/>
            <a:ext cx="109728" cy="109728"/>
          </a:xfrm>
          <a:prstGeom prst="ellipse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719072"/>
            <a:ext cx="4754880" cy="697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6313A"/>
                </a:solidFill>
                <a:latin typeface="Aptos"/>
              </a:defRPr>
            </a:pPr>
            <a:r>
              <a:t>Improved strength, moisture resistance, thermal stability and durability.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2545080"/>
            <a:ext cx="109728" cy="109728"/>
          </a:xfrm>
          <a:prstGeom prst="ellipse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2435352"/>
            <a:ext cx="4754880" cy="697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6313A"/>
                </a:solidFill>
                <a:latin typeface="Aptos"/>
              </a:defRPr>
            </a:pPr>
            <a:r>
              <a:t>Greater use of renewable biomass and reduced dependence on conventional adhesive systems.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3261360"/>
            <a:ext cx="109728" cy="109728"/>
          </a:xfrm>
          <a:prstGeom prst="ellipse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3151631"/>
            <a:ext cx="4754880" cy="697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6313A"/>
                </a:solidFill>
                <a:latin typeface="Aptos"/>
              </a:defRPr>
            </a:pPr>
            <a:r>
              <a:t>Potential contribution to SDGs 9, 12 and 13.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261872"/>
            <a:ext cx="5303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900" b="1" i="0">
                <a:solidFill>
                  <a:srgbClr val="007D87"/>
                </a:solidFill>
                <a:latin typeface="Aptos"/>
              </a:defRPr>
            </a:pPr>
            <a:r>
              <a:t>Research Activities &amp; Timeline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6752" y="1719072"/>
            <a:ext cx="1920240" cy="347472"/>
          </a:xfrm>
          <a:prstGeom prst="roundRect">
            <a:avLst/>
          </a:prstGeom>
          <a:solidFill>
            <a:srgbClr val="DC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08192" y="1783080"/>
            <a:ext cx="17373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142A43"/>
                </a:solidFill>
                <a:latin typeface="Aptos"/>
              </a:defRPr>
            </a:pPr>
            <a:r>
              <a:t>Jul–Aug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1583" y="1755648"/>
            <a:ext cx="3246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6313A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6752" y="2221991"/>
            <a:ext cx="1920240" cy="347472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08192" y="2285999"/>
            <a:ext cx="17373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142A43"/>
                </a:solidFill>
                <a:latin typeface="Aptos"/>
              </a:defRPr>
            </a:pPr>
            <a:r>
              <a:t>Aug–Oct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3" y="2258568"/>
            <a:ext cx="3246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6313A"/>
                </a:solidFill>
                <a:latin typeface="Aptos"/>
              </a:defRPr>
            </a:pPr>
            <a:r>
              <a:t>Material collection &amp; characterization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16752" y="2724912"/>
            <a:ext cx="1920240" cy="347472"/>
          </a:xfrm>
          <a:prstGeom prst="roundRect">
            <a:avLst/>
          </a:prstGeom>
          <a:solidFill>
            <a:srgbClr val="DC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08192" y="2788920"/>
            <a:ext cx="17373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142A43"/>
                </a:solidFill>
                <a:latin typeface="Aptos"/>
              </a:defRPr>
            </a:pPr>
            <a:r>
              <a:t>Oct–Dec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2761488"/>
            <a:ext cx="3246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6313A"/>
                </a:solidFill>
                <a:latin typeface="Aptos"/>
              </a:defRPr>
            </a:pPr>
            <a:r>
              <a:t>Formulation &amp; optimization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16752" y="3227832"/>
            <a:ext cx="1920240" cy="347472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08192" y="3291840"/>
            <a:ext cx="17373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142A43"/>
                </a:solidFill>
                <a:latin typeface="Aptos"/>
              </a:defRPr>
            </a:pPr>
            <a:r>
              <a:t>Dec 2026–Jan 2027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01583" y="3264408"/>
            <a:ext cx="3246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6313A"/>
                </a:solidFill>
                <a:latin typeface="Aptos"/>
              </a:defRPr>
            </a:pPr>
            <a:r>
              <a:t>Particleboard manufacture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16752" y="3730752"/>
            <a:ext cx="1920240" cy="347472"/>
          </a:xfrm>
          <a:prstGeom prst="roundRect">
            <a:avLst/>
          </a:prstGeom>
          <a:solidFill>
            <a:srgbClr val="DC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08192" y="3794760"/>
            <a:ext cx="17373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142A43"/>
                </a:solidFill>
                <a:latin typeface="Aptos"/>
              </a:defRPr>
            </a:pPr>
            <a:r>
              <a:t>Jan–Mar 2027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1583" y="3767328"/>
            <a:ext cx="3246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6313A"/>
                </a:solidFill>
                <a:latin typeface="Aptos"/>
              </a:defRPr>
            </a:pPr>
            <a:r>
              <a:t>Performance &amp; durability tests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16752" y="4233672"/>
            <a:ext cx="1920240" cy="347472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08192" y="4297680"/>
            <a:ext cx="17373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142A43"/>
                </a:solidFill>
                <a:latin typeface="Aptos"/>
              </a:defRPr>
            </a:pPr>
            <a:r>
              <a:t>Mar–May 2027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01583" y="4270248"/>
            <a:ext cx="3246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6313A"/>
                </a:solidFill>
                <a:latin typeface="Aptos"/>
              </a:defRPr>
            </a:pPr>
            <a:r>
              <a:t>Analysis, writing &amp; submission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4343400"/>
            <a:ext cx="10789920" cy="1234440"/>
          </a:xfrm>
          <a:prstGeom prst="roundRect">
            <a:avLst/>
          </a:prstGeom>
          <a:solidFill>
            <a:srgbClr val="14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0120" y="4544568"/>
            <a:ext cx="1645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E0AA48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4507992"/>
            <a:ext cx="85039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 i="0">
                <a:solidFill>
                  <a:srgbClr val="FFFFFF"/>
                </a:solidFill>
                <a:latin typeface="Aptos"/>
              </a:defRPr>
            </a:pPr>
            <a:r>
              <a:t>The study will identify an effective nano-silica-reinforced tannin–UF adhesive formulation and evaluate its suitability for stronger, more durable particleboard.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4360" y="6428232"/>
            <a:ext cx="9875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36777"/>
                </a:solidFill>
                <a:latin typeface="Aptos"/>
              </a:defRPr>
            </a:pPr>
            <a:r>
              <a:t>FORESTRY AND WOOD TECHNOLOGY  |  KHULNA UNIVERSITY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142A43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960120" cy="45720"/>
          </a:xfrm>
          <a:prstGeom prst="rect">
            <a:avLst/>
          </a:prstGeom>
          <a:solidFill>
            <a:srgbClr val="E0A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 i="0">
                <a:solidFill>
                  <a:srgbClr val="53677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0835640" cy="868680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64008" cy="8686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417320"/>
            <a:ext cx="10378440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6313A"/>
                </a:solidFill>
                <a:latin typeface="Aptos"/>
              </a:defRPr>
            </a:pPr>
            <a:r>
              <a:t>Bardak, T., Sozen, E., Kayahan, K., &amp; Bardak, S. (2018). The impact of nanoparticles and moisture content on bonding strength of urea formaldehyde resin adhesive. Drvna industrija, 69(3), 247–252. https://doi.org/10.5552/drind.2018.1755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40863"/>
            <a:ext cx="10835640" cy="1097280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340863"/>
            <a:ext cx="64008" cy="1097280"/>
          </a:xfrm>
          <a:prstGeom prst="rect">
            <a:avLst/>
          </a:prstGeom>
          <a:solidFill>
            <a:srgbClr val="E0A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432303"/>
            <a:ext cx="10378440" cy="9326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6313A"/>
                </a:solidFill>
                <a:latin typeface="Aptos"/>
              </a:defRPr>
            </a:pPr>
            <a:r>
              <a:t>Cui, Z., Xu, Y., Sun, G., Peng, L., Li, J., Luo, J., &amp; Gao, Q. (2023). Improving bond performance and reducing cross-linker dosage of soy protein adhesive via hyper-branched and organic–inorganic hybrid structures. Nanomaterials, 13(1), 203. https://doi.org/10.3390/nano13010203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584447"/>
            <a:ext cx="10835640" cy="1051560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3584447"/>
            <a:ext cx="64008" cy="105156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675887"/>
            <a:ext cx="10378440" cy="8869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6313A"/>
                </a:solidFill>
                <a:latin typeface="Aptos"/>
              </a:defRPr>
            </a:pPr>
            <a:r>
              <a:t>Roumeli, E., Papadopoulou, E., Pavlidou, E., Vourlias, G., Bikiaris, D., Paraskevopoulos, K. M., &amp; Chrissafis, K. (2012). Synthesis, characterization and thermal analysis of urea–formaldehyde/nanoSiO₂ resins. Thermochimica Acta, 527, 33–39. https://doi.org/10.1016/j.tca.2011.10.007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782312"/>
            <a:ext cx="10835640" cy="960120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4782312"/>
            <a:ext cx="64008" cy="960120"/>
          </a:xfrm>
          <a:prstGeom prst="rect">
            <a:avLst/>
          </a:prstGeom>
          <a:solidFill>
            <a:srgbClr val="E0A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4873751"/>
            <a:ext cx="10378440" cy="7955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6313A"/>
                </a:solidFill>
                <a:latin typeface="Aptos"/>
              </a:defRPr>
            </a:pPr>
            <a:r>
              <a:t>Zhu, Z., Zhang, E., Zeng, Q., Rao, J., &amp; Chen, N. (2022). Graphene oxide functionalized cottonseed-lignin resin with enhanced wet adhesion for woody composites application. Polymers, 14(1), 1. https://doi.org/10.3390/polym14010001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6428232"/>
            <a:ext cx="9875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36777"/>
                </a:solidFill>
                <a:latin typeface="Aptos"/>
              </a:defRPr>
            </a:pPr>
            <a:r>
              <a:t>FORESTRY AND WOOD TECHNOLOGY  |  KHULNA UNIVERSITY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A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164592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4600" b="1" i="0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2926080"/>
            <a:ext cx="1554480" cy="64008"/>
          </a:xfrm>
          <a:prstGeom prst="rect">
            <a:avLst/>
          </a:prstGeom>
          <a:solidFill>
            <a:srgbClr val="E0A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3337560"/>
            <a:ext cx="8503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2400" b="0" i="0">
                <a:solidFill>
                  <a:srgbClr val="CDDEE7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74920"/>
            <a:ext cx="8503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E0AA48"/>
                </a:solidFill>
                <a:latin typeface="Aptos"/>
              </a:defRPr>
            </a:pPr>
            <a:r>
              <a:t>Rashedul Sardar  |  MS-260509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486400"/>
            <a:ext cx="9418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300" b="0" i="0">
                <a:solidFill>
                  <a:srgbClr val="CDDEE7"/>
                </a:solidFill>
                <a:latin typeface="Aptos"/>
              </a:defRPr>
            </a:pPr>
            <a:r>
              <a:t>Forestry and Wood Technology Discipline, Khulna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648</Words>
  <Application>Microsoft Office PowerPoint</Application>
  <PresentationFormat>Widescreen</PresentationFormat>
  <Paragraphs>90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3</cp:revision>
  <dcterms:created xsi:type="dcterms:W3CDTF">2013-01-27T09:14:16Z</dcterms:created>
  <dcterms:modified xsi:type="dcterms:W3CDTF">2026-10-27T04:24:51Z</dcterms:modified>
  <cp:category/>
</cp:coreProperties>
</file>